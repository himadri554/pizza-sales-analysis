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14"/>
    <p:sldId id="26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6" d="100"/>
          <a:sy n="86" d="100"/>
        </p:scale>
        <p:origin x="514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rtika Srivastava" userId="de15d25c2cc72213" providerId="LiveId" clId="{2B76E193-2070-481F-997B-A7C5FC90B2A5}"/>
    <pc:docChg chg="custSel delSld modSld">
      <pc:chgData name="Nirtika Srivastava" userId="de15d25c2cc72213" providerId="LiveId" clId="{2B76E193-2070-481F-997B-A7C5FC90B2A5}" dt="2024-09-08T16:11:27.415" v="346" actId="47"/>
      <pc:docMkLst>
        <pc:docMk/>
      </pc:docMkLst>
      <pc:sldChg chg="modSp mod">
        <pc:chgData name="Nirtika Srivastava" userId="de15d25c2cc72213" providerId="LiveId" clId="{2B76E193-2070-481F-997B-A7C5FC90B2A5}" dt="2024-09-08T16:11:18.804" v="345" actId="20577"/>
        <pc:sldMkLst>
          <pc:docMk/>
          <pc:sldMk cId="718714757" sldId="268"/>
        </pc:sldMkLst>
        <pc:spChg chg="mod">
          <ac:chgData name="Nirtika Srivastava" userId="de15d25c2cc72213" providerId="LiveId" clId="{2B76E193-2070-481F-997B-A7C5FC90B2A5}" dt="2024-09-08T16:10:05.266" v="245" actId="20577"/>
          <ac:spMkLst>
            <pc:docMk/>
            <pc:sldMk cId="718714757" sldId="268"/>
            <ac:spMk id="2" creationId="{D76E0C64-DBC3-9097-EF4A-3A02B19C1F22}"/>
          </ac:spMkLst>
        </pc:spChg>
        <pc:spChg chg="mod">
          <ac:chgData name="Nirtika Srivastava" userId="de15d25c2cc72213" providerId="LiveId" clId="{2B76E193-2070-481F-997B-A7C5FC90B2A5}" dt="2024-09-08T16:11:18.804" v="345" actId="20577"/>
          <ac:spMkLst>
            <pc:docMk/>
            <pc:sldMk cId="718714757" sldId="268"/>
            <ac:spMk id="3" creationId="{1589D854-B06D-194F-2BAE-73EBEF4109B5}"/>
          </ac:spMkLst>
        </pc:spChg>
      </pc:sldChg>
      <pc:sldChg chg="del">
        <pc:chgData name="Nirtika Srivastava" userId="de15d25c2cc72213" providerId="LiveId" clId="{2B76E193-2070-481F-997B-A7C5FC90B2A5}" dt="2024-09-08T16:11:27.415" v="346" actId="47"/>
        <pc:sldMkLst>
          <pc:docMk/>
          <pc:sldMk cId="2257364604" sldId="269"/>
        </pc:sldMkLst>
      </pc:sldChg>
      <pc:sldChg chg="modSp mod">
        <pc:chgData name="Nirtika Srivastava" userId="de15d25c2cc72213" providerId="LiveId" clId="{2B76E193-2070-481F-997B-A7C5FC90B2A5}" dt="2024-09-08T16:09:50.485" v="232" actId="20577"/>
        <pc:sldMkLst>
          <pc:docMk/>
          <pc:sldMk cId="640949755" sldId="270"/>
        </pc:sldMkLst>
        <pc:spChg chg="mod">
          <ac:chgData name="Nirtika Srivastava" userId="de15d25c2cc72213" providerId="LiveId" clId="{2B76E193-2070-481F-997B-A7C5FC90B2A5}" dt="2024-09-08T16:09:50.485" v="232" actId="20577"/>
          <ac:spMkLst>
            <pc:docMk/>
            <pc:sldMk cId="640949755" sldId="270"/>
            <ac:spMk id="3" creationId="{62D0F83D-5CA9-AF5B-205A-25FAC8F6456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E7EFE208-299A-47F1-94BD-8A7782F96AD5}" type="datetimeFigureOut">
              <a:rPr lang="en-IN" smtClean="0"/>
              <a:t>08-09-2024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61D99C9C-1E50-47D3-B4B1-C6DDA4892E3F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8821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FE208-299A-47F1-94BD-8A7782F96AD5}" type="datetimeFigureOut">
              <a:rPr lang="en-IN" smtClean="0"/>
              <a:t>08-09-2024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99C9C-1E50-47D3-B4B1-C6DDA4892E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38874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FE208-299A-47F1-94BD-8A7782F96AD5}" type="datetimeFigureOut">
              <a:rPr lang="en-IN" smtClean="0"/>
              <a:t>08-09-2024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99C9C-1E50-47D3-B4B1-C6DDA4892E3F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4279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FE208-299A-47F1-94BD-8A7782F96AD5}" type="datetimeFigureOut">
              <a:rPr lang="en-IN" smtClean="0"/>
              <a:t>08-09-2024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99C9C-1E50-47D3-B4B1-C6DDA4892E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3941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FE208-299A-47F1-94BD-8A7782F96AD5}" type="datetimeFigureOut">
              <a:rPr lang="en-IN" smtClean="0"/>
              <a:t>08-09-2024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99C9C-1E50-47D3-B4B1-C6DDA4892E3F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3782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FE208-299A-47F1-94BD-8A7782F96AD5}" type="datetimeFigureOut">
              <a:rPr lang="en-IN" smtClean="0"/>
              <a:t>08-09-2024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99C9C-1E50-47D3-B4B1-C6DDA4892E3F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81144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FE208-299A-47F1-94BD-8A7782F96AD5}" type="datetimeFigureOut">
              <a:rPr lang="en-IN" smtClean="0"/>
              <a:t>08-09-2024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99C9C-1E50-47D3-B4B1-C6DDA4892E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9570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FE208-299A-47F1-94BD-8A7782F96AD5}" type="datetimeFigureOut">
              <a:rPr lang="en-IN" smtClean="0"/>
              <a:t>08-09-2024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99C9C-1E50-47D3-B4B1-C6DDA4892E3F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6336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FE208-299A-47F1-94BD-8A7782F96AD5}" type="datetimeFigureOut">
              <a:rPr lang="en-IN" smtClean="0"/>
              <a:t>08-09-2024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99C9C-1E50-47D3-B4B1-C6DDA4892E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58005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FE208-299A-47F1-94BD-8A7782F96AD5}" type="datetimeFigureOut">
              <a:rPr lang="en-IN" smtClean="0"/>
              <a:t>08-09-2024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99C9C-1E50-47D3-B4B1-C6DDA4892E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7836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FE208-299A-47F1-94BD-8A7782F96AD5}" type="datetimeFigureOut">
              <a:rPr lang="en-IN" smtClean="0"/>
              <a:t>08-09-2024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99C9C-1E50-47D3-B4B1-C6DDA4892E3F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12755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FE208-299A-47F1-94BD-8A7782F96AD5}" type="datetimeFigureOut">
              <a:rPr lang="en-IN" smtClean="0"/>
              <a:t>08-09-2024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99C9C-1E50-47D3-B4B1-C6DDA4892E3F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75133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FE208-299A-47F1-94BD-8A7782F96AD5}" type="datetimeFigureOut">
              <a:rPr lang="en-IN" smtClean="0"/>
              <a:t>08-09-2024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99C9C-1E50-47D3-B4B1-C6DDA4892E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92505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FE208-299A-47F1-94BD-8A7782F96AD5}" type="datetimeFigureOut">
              <a:rPr lang="en-IN" smtClean="0"/>
              <a:t>08-09-2024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99C9C-1E50-47D3-B4B1-C6DDA4892E3F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11644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FE208-299A-47F1-94BD-8A7782F96AD5}" type="datetimeFigureOut">
              <a:rPr lang="en-IN" smtClean="0"/>
              <a:t>08-09-2024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99C9C-1E50-47D3-B4B1-C6DDA4892E3F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06918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FE208-299A-47F1-94BD-8A7782F96AD5}" type="datetimeFigureOut">
              <a:rPr lang="en-IN" smtClean="0"/>
              <a:t>08-09-2024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99C9C-1E50-47D3-B4B1-C6DDA4892E3F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36525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FE208-299A-47F1-94BD-8A7782F96AD5}" type="datetimeFigureOut">
              <a:rPr lang="en-IN" smtClean="0"/>
              <a:t>08-09-2024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99C9C-1E50-47D3-B4B1-C6DDA4892E3F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6285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7EFE208-299A-47F1-94BD-8A7782F96AD5}" type="datetimeFigureOut">
              <a:rPr lang="en-IN" smtClean="0"/>
              <a:t>08-09-2024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1D99C9C-1E50-47D3-B4B1-C6DDA4892E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15447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95B90-19D8-D116-D070-7F05D8A41B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14400"/>
            <a:ext cx="9144000" cy="1058334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IN" sz="3600" b="1" dirty="0">
                <a:solidFill>
                  <a:schemeClr val="accent4">
                    <a:lumMod val="75000"/>
                  </a:schemeClr>
                </a:solidFill>
              </a:rPr>
              <a:t>DATA ANALYST </a:t>
            </a:r>
            <a:r>
              <a:rPr lang="en-IN" sz="3600" b="1" dirty="0">
                <a:solidFill>
                  <a:srgbClr val="FF0000"/>
                </a:solidFill>
              </a:rPr>
              <a:t>PORTFOLIO PROJECT</a:t>
            </a:r>
            <a:br>
              <a:rPr lang="en-IN" sz="3600" b="1" dirty="0"/>
            </a:br>
            <a:br>
              <a:rPr lang="en-IN" sz="3600" b="1" dirty="0"/>
            </a:br>
            <a:r>
              <a:rPr lang="en-IN" sz="3600" b="1" dirty="0">
                <a:solidFill>
                  <a:schemeClr val="accent6">
                    <a:lumMod val="75000"/>
                  </a:schemeClr>
                </a:solidFill>
              </a:rPr>
              <a:t>PART 1</a:t>
            </a:r>
            <a:br>
              <a:rPr lang="en-IN" sz="3600" b="1" dirty="0"/>
            </a:br>
            <a:endParaRPr lang="en-IN" sz="36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18AF03-4F6A-303C-93E5-93FF1029E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31533" y="1972735"/>
            <a:ext cx="6798733" cy="1523998"/>
          </a:xfrm>
        </p:spPr>
        <p:txBody>
          <a:bodyPr>
            <a:normAutofit/>
          </a:bodyPr>
          <a:lstStyle/>
          <a:p>
            <a:r>
              <a:rPr lang="en-IN" sz="4000" dirty="0"/>
              <a:t>MS EXCEL SERVER</a:t>
            </a:r>
          </a:p>
        </p:txBody>
      </p:sp>
      <p:pic>
        <p:nvPicPr>
          <p:cNvPr id="1026" name="Picture 2" descr="white Microsoft SQL Server logo on a dark blue background">
            <a:extLst>
              <a:ext uri="{FF2B5EF4-FFF2-40B4-BE49-F238E27FC236}">
                <a16:creationId xmlns:a16="http://schemas.microsoft.com/office/drawing/2014/main" id="{B73A52E6-4A4C-8BEA-E200-EC2C35D0B3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4133" y="3716868"/>
            <a:ext cx="3399367" cy="1595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ove Azure SQL Server to Any Destination, Real-time ETL &amp; CDC | Estuary">
            <a:extLst>
              <a:ext uri="{FF2B5EF4-FFF2-40B4-BE49-F238E27FC236}">
                <a16:creationId xmlns:a16="http://schemas.microsoft.com/office/drawing/2014/main" id="{1AA3A5B8-BAB6-E7CA-43E3-22346607DA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3500" y="3549282"/>
            <a:ext cx="3839633" cy="193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81096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263F4-5100-BD7B-BC51-B505125DC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1" y="745066"/>
            <a:ext cx="3718455" cy="1879601"/>
          </a:xfrm>
          <a:solidFill>
            <a:schemeClr val="accent1">
              <a:lumMod val="60000"/>
              <a:lumOff val="40000"/>
            </a:schemeClr>
          </a:solidFill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chemeClr val="accent4">
                    <a:lumMod val="75000"/>
                  </a:schemeClr>
                </a:solidFill>
              </a:rPr>
              <a:t>MS SQL SERVER</a:t>
            </a:r>
            <a:br>
              <a:rPr lang="en-IN" b="1" dirty="0">
                <a:solidFill>
                  <a:schemeClr val="accent4">
                    <a:lumMod val="75000"/>
                  </a:schemeClr>
                </a:solidFill>
              </a:rPr>
            </a:br>
            <a:br>
              <a:rPr lang="en-IN" b="1" dirty="0">
                <a:solidFill>
                  <a:schemeClr val="accent4">
                    <a:lumMod val="75000"/>
                  </a:schemeClr>
                </a:solidFill>
              </a:rPr>
            </a:br>
            <a:br>
              <a:rPr lang="en-IN" b="1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en-IN" dirty="0">
                <a:solidFill>
                  <a:schemeClr val="accent3">
                    <a:lumMod val="50000"/>
                  </a:schemeClr>
                </a:solidFill>
              </a:rPr>
              <a:t>IMPORT</a:t>
            </a:r>
            <a:r>
              <a:rPr lang="en-IN" dirty="0"/>
              <a:t> </a:t>
            </a:r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DATA</a:t>
            </a:r>
            <a:br>
              <a:rPr lang="en-IN" dirty="0">
                <a:solidFill>
                  <a:schemeClr val="accent5">
                    <a:lumMod val="75000"/>
                  </a:schemeClr>
                </a:solidFill>
              </a:rPr>
            </a:br>
            <a:endParaRPr lang="en-IN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120B2F-0D92-3558-F30A-DEACDF9BCB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E691A4-BCBD-1CAC-0E1A-99EA6DDCC0C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40569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81CA0-400D-3467-B268-9EB6D43C6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1" y="626533"/>
            <a:ext cx="3718455" cy="1955800"/>
          </a:xfrm>
          <a:solidFill>
            <a:schemeClr val="accent1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accent4">
                    <a:lumMod val="75000"/>
                  </a:schemeClr>
                </a:solidFill>
              </a:rPr>
              <a:t>MS SQL SERVER</a:t>
            </a:r>
            <a:br>
              <a:rPr lang="en-IN" dirty="0"/>
            </a:br>
            <a:br>
              <a:rPr lang="en-IN" dirty="0"/>
            </a:br>
            <a:r>
              <a:rPr lang="en-IN" dirty="0">
                <a:solidFill>
                  <a:schemeClr val="accent3">
                    <a:lumMod val="50000"/>
                  </a:schemeClr>
                </a:solidFill>
              </a:rPr>
              <a:t>CREATING</a:t>
            </a:r>
            <a:r>
              <a:rPr lang="en-IN" dirty="0"/>
              <a:t> </a:t>
            </a:r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DB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C21E9A-4149-89BE-A2F9-4202C27C59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1B6F9F-876F-B6D1-8C8A-EE5B69A0198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45759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6A911C8-119C-4875-313B-0358EE08C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1" y="982131"/>
            <a:ext cx="3718455" cy="1778003"/>
          </a:xfrm>
          <a:solidFill>
            <a:schemeClr val="accent1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IN" sz="3600" dirty="0">
                <a:solidFill>
                  <a:schemeClr val="accent4">
                    <a:lumMod val="75000"/>
                  </a:schemeClr>
                </a:solidFill>
              </a:rPr>
              <a:t>MS SQL SERVER</a:t>
            </a:r>
            <a:br>
              <a:rPr lang="en-IN" sz="3600" dirty="0">
                <a:solidFill>
                  <a:schemeClr val="accent4">
                    <a:lumMod val="75000"/>
                  </a:schemeClr>
                </a:solidFill>
              </a:rPr>
            </a:br>
            <a:br>
              <a:rPr lang="en-IN" dirty="0"/>
            </a:br>
            <a:r>
              <a:rPr lang="en-IN" dirty="0">
                <a:solidFill>
                  <a:schemeClr val="accent3">
                    <a:lumMod val="50000"/>
                  </a:schemeClr>
                </a:solidFill>
              </a:rPr>
              <a:t>WRITING</a:t>
            </a:r>
            <a:r>
              <a:rPr lang="en-IN" dirty="0"/>
              <a:t> </a:t>
            </a:r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QUERIES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C005FA0-1CCD-F1F1-5FEF-FCBA3E20E0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60841E4-CCC9-4362-8EF1-E4AA1023E25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42468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53F2F-FE7B-FF45-F0D7-E163DE78C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1" y="1117601"/>
            <a:ext cx="3718455" cy="1524000"/>
          </a:xfrm>
          <a:solidFill>
            <a:schemeClr val="accent1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accent4">
                    <a:lumMod val="75000"/>
                  </a:schemeClr>
                </a:solidFill>
              </a:rPr>
              <a:t>MS  EXCEL SERVER</a:t>
            </a:r>
            <a:br>
              <a:rPr lang="en-IN" dirty="0">
                <a:solidFill>
                  <a:schemeClr val="accent4">
                    <a:lumMod val="75000"/>
                  </a:schemeClr>
                </a:solidFill>
              </a:rPr>
            </a:br>
            <a:br>
              <a:rPr lang="en-IN" dirty="0"/>
            </a:br>
            <a:r>
              <a:rPr lang="en-IN" dirty="0">
                <a:solidFill>
                  <a:schemeClr val="accent3">
                    <a:lumMod val="75000"/>
                  </a:schemeClr>
                </a:solidFill>
              </a:rPr>
              <a:t>CREATING</a:t>
            </a:r>
            <a:r>
              <a:rPr lang="en-IN" dirty="0"/>
              <a:t> </a:t>
            </a:r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REPORT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B3DE67-3B99-E0D8-7FF2-F52249512A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FF9965-2E55-FE83-EF7F-91E2604307D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39995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7CB6117-828C-83FC-99CB-C67D9F142A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92398" y="1803400"/>
            <a:ext cx="6815669" cy="1625600"/>
          </a:xfrm>
        </p:spPr>
        <p:txBody>
          <a:bodyPr/>
          <a:lstStyle/>
          <a:p>
            <a:r>
              <a:rPr lang="en-IN" dirty="0"/>
              <a:t>DATA ANALYST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</a:t>
            </a:r>
            <a:r>
              <a:rPr lang="en-IN" dirty="0">
                <a:solidFill>
                  <a:schemeClr val="accent4">
                    <a:lumMod val="75000"/>
                  </a:schemeClr>
                </a:solidFill>
              </a:rPr>
              <a:t>PORTFOLIO PROJECT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016547C3-7558-283E-8675-55B1E23128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2734736"/>
          </a:xfrm>
        </p:spPr>
        <p:txBody>
          <a:bodyPr>
            <a:normAutofit/>
          </a:bodyPr>
          <a:lstStyle/>
          <a:p>
            <a:r>
              <a:rPr lang="en-IN" sz="2800" b="1" dirty="0">
                <a:solidFill>
                  <a:schemeClr val="accent3">
                    <a:lumMod val="75000"/>
                  </a:schemeClr>
                </a:solidFill>
              </a:rPr>
              <a:t>PART 2</a:t>
            </a:r>
          </a:p>
          <a:p>
            <a:r>
              <a:rPr lang="en-IN" sz="2800" b="1" dirty="0">
                <a:solidFill>
                  <a:schemeClr val="accent2">
                    <a:lumMod val="75000"/>
                  </a:schemeClr>
                </a:solidFill>
              </a:rPr>
              <a:t>EXCEL</a:t>
            </a:r>
          </a:p>
        </p:txBody>
      </p:sp>
    </p:spTree>
    <p:extLst>
      <p:ext uri="{BB962C8B-B14F-4D97-AF65-F5344CB8AC3E}">
        <p14:creationId xmlns:p14="http://schemas.microsoft.com/office/powerpoint/2010/main" val="20349039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8220CEB-EB7B-1780-ACDD-F6CF854977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92398" y="897466"/>
            <a:ext cx="6815669" cy="1227667"/>
          </a:xfrm>
        </p:spPr>
        <p:txBody>
          <a:bodyPr/>
          <a:lstStyle/>
          <a:p>
            <a:r>
              <a:rPr lang="en-IN" sz="4000" dirty="0">
                <a:solidFill>
                  <a:schemeClr val="accent2">
                    <a:lumMod val="50000"/>
                  </a:schemeClr>
                </a:solidFill>
              </a:rPr>
              <a:t>EXCEL</a:t>
            </a:r>
            <a:br>
              <a:rPr lang="en-IN" sz="3600" dirty="0"/>
            </a:br>
            <a:br>
              <a:rPr lang="en-IN" sz="3600" dirty="0"/>
            </a:br>
            <a:r>
              <a:rPr lang="en-IN" sz="3200" dirty="0">
                <a:solidFill>
                  <a:schemeClr val="accent2">
                    <a:lumMod val="75000"/>
                  </a:schemeClr>
                </a:solidFill>
              </a:rPr>
              <a:t>CONNECTING TO</a:t>
            </a:r>
            <a:r>
              <a:rPr lang="en-IN" sz="3200" dirty="0"/>
              <a:t> </a:t>
            </a:r>
            <a:r>
              <a:rPr lang="en-IN" sz="3200" dirty="0">
                <a:solidFill>
                  <a:schemeClr val="accent4">
                    <a:lumMod val="75000"/>
                  </a:schemeClr>
                </a:solidFill>
              </a:rPr>
              <a:t>MS SQL SERVER</a:t>
            </a:r>
            <a:endParaRPr lang="en-IN" sz="36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7B16FEA-0C33-C153-76F7-AA3B8AEBA7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2398" y="2946400"/>
            <a:ext cx="6815669" cy="2031999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900870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AB473-EEEF-754B-15F9-2B011F6700F3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5">
              <a:lumMod val="60000"/>
              <a:lumOff val="40000"/>
            </a:schemeClr>
          </a:solidFill>
        </p:spPr>
        <p:txBody>
          <a:bodyPr/>
          <a:lstStyle/>
          <a:p>
            <a:r>
              <a:rPr lang="en-IN" b="1" dirty="0">
                <a:solidFill>
                  <a:schemeClr val="accent1">
                    <a:lumMod val="50000"/>
                  </a:schemeClr>
                </a:solidFill>
              </a:rPr>
              <a:t>EXCEL</a:t>
            </a:r>
            <a:br>
              <a:rPr lang="en-IN" dirty="0"/>
            </a:br>
            <a:br>
              <a:rPr lang="en-IN" dirty="0"/>
            </a:br>
            <a:r>
              <a:rPr lang="en-IN" b="1" dirty="0">
                <a:solidFill>
                  <a:schemeClr val="accent3">
                    <a:lumMod val="50000"/>
                  </a:schemeClr>
                </a:solidFill>
              </a:rPr>
              <a:t>DATA </a:t>
            </a:r>
            <a:r>
              <a:rPr lang="en-IN" b="1" dirty="0">
                <a:solidFill>
                  <a:schemeClr val="accent4">
                    <a:lumMod val="75000"/>
                  </a:schemeClr>
                </a:solidFill>
              </a:rPr>
              <a:t>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B7820-626E-FB25-BDA3-00F8379A66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CC9411-9348-F66C-DA1E-D7C151A3EE8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213742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F81DD-5612-1AB6-3B1F-5506EF64BCFA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5">
              <a:lumMod val="60000"/>
              <a:lumOff val="40000"/>
            </a:schemeClr>
          </a:solidFill>
        </p:spPr>
        <p:txBody>
          <a:bodyPr/>
          <a:lstStyle/>
          <a:p>
            <a:r>
              <a:rPr lang="en-IN" b="1" dirty="0">
                <a:solidFill>
                  <a:schemeClr val="accent1">
                    <a:lumMod val="50000"/>
                  </a:schemeClr>
                </a:solidFill>
              </a:rPr>
              <a:t>EXCEL</a:t>
            </a:r>
            <a:br>
              <a:rPr lang="en-IN" dirty="0"/>
            </a:br>
            <a:br>
              <a:rPr lang="en-IN" dirty="0"/>
            </a:br>
            <a:r>
              <a:rPr lang="en-IN" b="1" dirty="0">
                <a:solidFill>
                  <a:schemeClr val="accent4">
                    <a:lumMod val="75000"/>
                  </a:schemeClr>
                </a:solidFill>
              </a:rPr>
              <a:t>DATA</a:t>
            </a:r>
            <a:r>
              <a:rPr lang="en-IN" b="1" dirty="0"/>
              <a:t>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CFD005-CCA4-2B15-D7A6-7FCD7AA93C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85EDD4-945F-9B3C-1BA2-54BF808EF82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86027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6F925-3987-B962-187E-5DE024E4AD7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r>
              <a:rPr lang="en-IN" b="1" dirty="0">
                <a:solidFill>
                  <a:schemeClr val="accent3">
                    <a:lumMod val="75000"/>
                  </a:schemeClr>
                </a:solidFill>
              </a:rPr>
              <a:t>EXCEL</a:t>
            </a:r>
            <a:br>
              <a:rPr lang="en-IN" dirty="0"/>
            </a:br>
            <a:br>
              <a:rPr lang="en-IN" dirty="0"/>
            </a:br>
            <a:r>
              <a:rPr lang="en-IN" b="1" dirty="0">
                <a:solidFill>
                  <a:schemeClr val="accent4">
                    <a:lumMod val="50000"/>
                  </a:schemeClr>
                </a:solidFill>
              </a:rPr>
              <a:t>DATA</a:t>
            </a:r>
            <a:r>
              <a:rPr lang="en-IN" b="1" dirty="0"/>
              <a:t> </a:t>
            </a:r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VISUALIZATION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83B16B-2FE4-6C02-999D-E69D482BE2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874378-14B8-D545-9CB4-DC58BF08B39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519434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D075FE5-9D83-5F2A-CE9E-CCAEFE282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897467"/>
            <a:ext cx="9601196" cy="1159934"/>
          </a:xfrm>
        </p:spPr>
        <p:txBody>
          <a:bodyPr>
            <a:normAutofit fontScale="90000"/>
          </a:bodyPr>
          <a:lstStyle/>
          <a:p>
            <a:pPr algn="l"/>
            <a:r>
              <a:rPr lang="en-IN" sz="2400" b="1" dirty="0"/>
              <a:t>PROBLEM STATEMENT</a:t>
            </a:r>
            <a:br>
              <a:rPr lang="en-IN" sz="2400" dirty="0"/>
            </a:br>
            <a:br>
              <a:rPr lang="en-IN" sz="2400" dirty="0"/>
            </a:br>
            <a:r>
              <a:rPr lang="en-IN" sz="2400" b="1" dirty="0">
                <a:solidFill>
                  <a:schemeClr val="accent4">
                    <a:lumMod val="75000"/>
                  </a:schemeClr>
                </a:solidFill>
              </a:rPr>
              <a:t>KPI’s REQUIREMENT</a:t>
            </a:r>
            <a:br>
              <a:rPr lang="en-IN" sz="2400" dirty="0"/>
            </a:br>
            <a:br>
              <a:rPr lang="en-IN" sz="2400" dirty="0"/>
            </a:br>
            <a:r>
              <a:rPr lang="en-IN" sz="1800" b="1" dirty="0"/>
              <a:t>We need to analyse key indicators for our pizza sales data to gain insights into our business performance. Specifically, we want to calculate the following metrices:</a:t>
            </a:r>
            <a:endParaRPr lang="en-IN" sz="2400" b="1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E27F22-B709-8FEE-4E69-9B9622F402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946400"/>
            <a:ext cx="9601196" cy="2929468"/>
          </a:xfrm>
          <a:solidFill>
            <a:schemeClr val="tx2">
              <a:lumMod val="25000"/>
              <a:lumOff val="75000"/>
            </a:schemeClr>
          </a:solidFill>
        </p:spPr>
        <p:txBody>
          <a:bodyPr>
            <a:normAutofit/>
          </a:bodyPr>
          <a:lstStyle/>
          <a:p>
            <a:r>
              <a:rPr lang="en-IN" sz="2000" b="1" dirty="0"/>
              <a:t>1.Total Revenue: The sum of the total price of all pizza orders.</a:t>
            </a:r>
          </a:p>
          <a:p>
            <a:r>
              <a:rPr lang="en-IN" sz="2000" b="1" dirty="0"/>
              <a:t>2.Average Order Value: The average amount spent per order, calculated by dividing the total revenue by the total number of orders.</a:t>
            </a:r>
          </a:p>
          <a:p>
            <a:r>
              <a:rPr lang="en-IN" sz="2000" b="1" dirty="0"/>
              <a:t>3.Total Pizzas Sold: The sum of the qualities of all pizzas sold.</a:t>
            </a:r>
          </a:p>
          <a:p>
            <a:r>
              <a:rPr lang="en-IN" sz="2000" b="1" dirty="0"/>
              <a:t>4.Total Orders: The total number of orders placed.</a:t>
            </a:r>
          </a:p>
          <a:p>
            <a:r>
              <a:rPr lang="en-IN" sz="2000" b="1" dirty="0"/>
              <a:t>5.Average Pizzas Per Order: The average number of pizzas sold per order, calculated by dividing the total number of pizzas sold by the total number of orders.</a:t>
            </a:r>
          </a:p>
        </p:txBody>
      </p:sp>
    </p:spTree>
    <p:extLst>
      <p:ext uri="{BB962C8B-B14F-4D97-AF65-F5344CB8AC3E}">
        <p14:creationId xmlns:p14="http://schemas.microsoft.com/office/powerpoint/2010/main" val="37895477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70F87-0989-43D0-0AE8-9DBB873CA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867" y="694268"/>
            <a:ext cx="9846731" cy="973665"/>
          </a:xfrm>
        </p:spPr>
        <p:txBody>
          <a:bodyPr/>
          <a:lstStyle/>
          <a:p>
            <a:r>
              <a:rPr lang="en-IN" u="sng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3BE059-8DA8-FD8F-7832-5A729DF07F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5934" y="1430867"/>
            <a:ext cx="9990664" cy="444500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CHARTS REQUIREMENT</a:t>
            </a:r>
          </a:p>
          <a:p>
            <a:pPr marL="0" indent="0" algn="ctr">
              <a:buNone/>
            </a:pPr>
            <a:r>
              <a:rPr lang="en-IN" sz="1600" dirty="0"/>
              <a:t>   We want to visualize various aspects of our pizza sales data to gain insights and understand key trends. We have identified         the following requirements for creating charts:</a:t>
            </a:r>
          </a:p>
          <a:p>
            <a:pPr marL="342900" indent="-342900">
              <a:buAutoNum type="arabicPeriod"/>
            </a:pPr>
            <a:r>
              <a:rPr lang="en-IN" sz="1600" b="1" dirty="0"/>
              <a:t>Daily Trend for Total Orders:</a:t>
            </a:r>
          </a:p>
          <a:p>
            <a:pPr marL="0" indent="0">
              <a:buNone/>
            </a:pPr>
            <a:r>
              <a:rPr lang="en-IN" sz="1600" dirty="0"/>
              <a:t>Create a bar chart that displays the daily trend of total orders over a specific period. This chart will help us identify </a:t>
            </a:r>
            <a:r>
              <a:rPr lang="en-GB" sz="1600" dirty="0"/>
              <a:t>patterns or fluctuations in daily order volumes</a:t>
            </a:r>
            <a:r>
              <a:rPr lang="en-IN" sz="1600" dirty="0"/>
              <a:t>.</a:t>
            </a:r>
          </a:p>
          <a:p>
            <a:pPr marL="0" indent="0">
              <a:buNone/>
            </a:pPr>
            <a:r>
              <a:rPr lang="en-IN" sz="1600" dirty="0"/>
              <a:t>2</a:t>
            </a:r>
            <a:r>
              <a:rPr lang="en-IN" sz="1600" b="1" dirty="0"/>
              <a:t>. Hourly Trend for Total Orders:</a:t>
            </a:r>
          </a:p>
          <a:p>
            <a:pPr marL="0" indent="0">
              <a:buNone/>
            </a:pPr>
            <a:r>
              <a:rPr lang="en-IN" sz="1600" dirty="0"/>
              <a:t>Create a line chart that illustrates the hourly trend of total orders throughout the day. This chart will allow us to identify peak hours or periods of high-order activity.</a:t>
            </a:r>
          </a:p>
          <a:p>
            <a:pPr marL="0" indent="0">
              <a:buNone/>
            </a:pPr>
            <a:r>
              <a:rPr lang="en-IN" sz="1600" dirty="0"/>
              <a:t>3. </a:t>
            </a:r>
            <a:r>
              <a:rPr lang="en-IN" sz="1600" b="1" dirty="0"/>
              <a:t>Percentage of Sales by Pizza Category</a:t>
            </a:r>
          </a:p>
          <a:p>
            <a:pPr marL="0" indent="0">
              <a:buNone/>
            </a:pPr>
            <a:r>
              <a:rPr lang="en-IN" sz="1600" dirty="0"/>
              <a:t>Create a pie chart that shows the distribution of sales across different pizza categories. This chart will provide insights into the popularity of various pizza categories and their contributions to overall sales.</a:t>
            </a:r>
          </a:p>
          <a:p>
            <a:pPr marL="0" indent="0">
              <a:buNone/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42359565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962EC-F192-3F24-FEA4-98A3AA439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127065" cy="397935"/>
          </a:xfrm>
        </p:spPr>
        <p:txBody>
          <a:bodyPr>
            <a:normAutofit fontScale="90000"/>
          </a:bodyPr>
          <a:lstStyle/>
          <a:p>
            <a:r>
              <a:rPr lang="en-IN" u="sng" dirty="0"/>
              <a:t>PROBLEM STATEMENT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D0F83D-5CA9-AF5B-205A-25FAC8F645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1269" y="1515531"/>
            <a:ext cx="10549463" cy="481753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4. Percentage of sales by Pizza Size</a:t>
            </a:r>
          </a:p>
          <a:p>
            <a:pPr marL="0" indent="0">
              <a:buNone/>
            </a:pPr>
            <a:r>
              <a:rPr lang="en-IN" sz="1800" dirty="0"/>
              <a:t>Generate a pie chart that represents the percentage of sales attributed to different pizza sales. This chart will help us understand customer preferences for pizza sales and their impact on sales.</a:t>
            </a:r>
          </a:p>
          <a:p>
            <a:pPr marL="0" indent="0">
              <a:buNone/>
            </a:pPr>
            <a:r>
              <a:rPr lang="en-IN" dirty="0"/>
              <a:t>5. Total pizzas sold by Pizza Category</a:t>
            </a:r>
          </a:p>
          <a:p>
            <a:pPr marL="0" indent="0">
              <a:buNone/>
            </a:pPr>
            <a:r>
              <a:rPr lang="en-IN" sz="1800" dirty="0"/>
              <a:t>Create a funnel chart that represents the total number of pizzas sold for each pizza category. This chart will allow us to compare the sales performance of different pizza categories.</a:t>
            </a:r>
          </a:p>
          <a:p>
            <a:pPr marL="0" indent="0">
              <a:buNone/>
            </a:pPr>
            <a:r>
              <a:rPr lang="en-IN" dirty="0"/>
              <a:t>6. Top 5 Best Sellers by Total Pizzas Sold</a:t>
            </a:r>
          </a:p>
          <a:p>
            <a:pPr marL="0" indent="0">
              <a:buNone/>
            </a:pPr>
            <a:r>
              <a:rPr lang="en-IN" sz="2000" dirty="0"/>
              <a:t>Create a bar chart highlighting the top 5 best-selling pizzas based on the total number of pizzas sold. This chart will help us identify the most popular pizza options.</a:t>
            </a:r>
          </a:p>
          <a:p>
            <a:pPr marL="0" indent="0">
              <a:buNone/>
            </a:pPr>
            <a:r>
              <a:rPr lang="en-IN" dirty="0"/>
              <a:t>7. Bottom 5 Worst Sellers by Total Pizzas Sold:</a:t>
            </a:r>
          </a:p>
          <a:p>
            <a:pPr marL="0" indent="0">
              <a:buNone/>
            </a:pPr>
            <a:r>
              <a:rPr lang="en-IN" sz="2200" dirty="0"/>
              <a:t>Create a bar chart </a:t>
            </a:r>
            <a:r>
              <a:rPr lang="en-IN" sz="2200" dirty="0" err="1"/>
              <a:t>showcasting</a:t>
            </a:r>
            <a:r>
              <a:rPr lang="en-IN" sz="2200" dirty="0"/>
              <a:t> the bottom 5 worst-selling pizzas based on the total number of pizzas sold. This chart will enable us to identify underperforming or less popular pizza options.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409497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E0C64-DBC3-9097-EF4A-3A02B19C1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SOFTWARE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89D854-B06D-194F-2BAE-73EBEF4109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MS OFFICE /EXCEL: VERSION 2021</a:t>
            </a:r>
          </a:p>
          <a:p>
            <a:pPr marL="0" indent="0">
              <a:buNone/>
            </a:pPr>
            <a:r>
              <a:rPr lang="en-IN" dirty="0"/>
              <a:t>MS SQL SERVER: 19.0</a:t>
            </a:r>
          </a:p>
          <a:p>
            <a:pPr marL="0" indent="0">
              <a:buNone/>
            </a:pPr>
            <a:r>
              <a:rPr lang="en-IN" dirty="0"/>
              <a:t>SQL SERVER MANAGEMENT STUDIO- 19.0,20209.0</a:t>
            </a:r>
          </a:p>
        </p:txBody>
      </p:sp>
    </p:spTree>
    <p:extLst>
      <p:ext uri="{BB962C8B-B14F-4D97-AF65-F5344CB8AC3E}">
        <p14:creationId xmlns:p14="http://schemas.microsoft.com/office/powerpoint/2010/main" val="71871475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137</TotalTime>
  <Words>554</Words>
  <Application>Microsoft Office PowerPoint</Application>
  <PresentationFormat>Widescreen</PresentationFormat>
  <Paragraphs>42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Garamond</vt:lpstr>
      <vt:lpstr>Organic</vt:lpstr>
      <vt:lpstr>DATA ANALYST PORTFOLIO PROJECT  PART 1 </vt:lpstr>
      <vt:lpstr>MS SQL SERVER   IMPORT DATA </vt:lpstr>
      <vt:lpstr>MS SQL SERVER  CREATING DB </vt:lpstr>
      <vt:lpstr>MS SQL SERVER  WRITING QUERIES</vt:lpstr>
      <vt:lpstr>MS  EXCEL SERVER  CREATING REPORT</vt:lpstr>
      <vt:lpstr>DATA ANALYST   PORTFOLIO PROJECT</vt:lpstr>
      <vt:lpstr>EXCEL  CONNECTING TO MS SQL SERVER</vt:lpstr>
      <vt:lpstr>EXCEL  DATA CLEANING</vt:lpstr>
      <vt:lpstr>EXCEL  DATA ANALYSIS</vt:lpstr>
      <vt:lpstr>EXCEL  DATA VISUALIZATION</vt:lpstr>
      <vt:lpstr>PROBLEM STATEMENT  KPI’s REQUIREMENT  We need to analyse key indicators for our pizza sales data to gain insights into our business performance. Specifically, we want to calculate the following metrices:</vt:lpstr>
      <vt:lpstr>PROBLEM STATEMENT</vt:lpstr>
      <vt:lpstr>PROBLEM STATEMENT</vt:lpstr>
      <vt:lpstr>SOFTWARE USED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Nirtika Srivastava</dc:creator>
  <cp:lastModifiedBy>Nirtika Srivastava</cp:lastModifiedBy>
  <cp:revision>1</cp:revision>
  <dcterms:created xsi:type="dcterms:W3CDTF">2024-09-08T13:54:49Z</dcterms:created>
  <dcterms:modified xsi:type="dcterms:W3CDTF">2024-09-08T16:16:08Z</dcterms:modified>
</cp:coreProperties>
</file>